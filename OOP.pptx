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8" Type="http://schemas.openxmlformats.org/officeDocument/2006/relationships/viewProps" Target="viewProps.xml" /><Relationship Id="rId4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0" Type="http://schemas.openxmlformats.org/officeDocument/2006/relationships/tableStyles" Target="tableStyles.xml" /><Relationship Id="rId4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OOP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is the output of the following code? (2 pts)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avg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avg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-342900" marL="342900">
              <a:buAutoNum startAt="2" type="arabicPeriod"/>
            </a:pPr>
            <a:r>
              <a:rPr/>
              <a:t>Which Scanner method reads a whole line of input as a String? (1 pt)</a:t>
            </a:r>
          </a:p>
          <a:p>
            <a:pPr lvl="0"/>
            <a:r>
              <a:rPr/>
              <a:t>next()</a:t>
            </a:r>
          </a:p>
          <a:p>
            <a:pPr lvl="0"/>
            <a:r>
              <a:rPr/>
              <a:t>nextLine()</a:t>
            </a:r>
          </a:p>
          <a:p>
            <a:pPr lvl="0"/>
            <a:r>
              <a:rPr/>
              <a:t>nextInt()</a:t>
            </a:r>
          </a:p>
          <a:p>
            <a:pPr lvl="0"/>
            <a:r>
              <a:rPr/>
              <a:t>nextDouble()</a:t>
            </a:r>
          </a:p>
          <a:p>
            <a:pPr lvl="0" indent="-342900" marL="342900">
              <a:buAutoNum startAt="3" type="arabicPeriod"/>
            </a:pPr>
            <a:r>
              <a:rPr/>
              <a:t>Which type of error occurs when code compiles and runs but produces the wrong result? (1 pt)</a:t>
            </a:r>
          </a:p>
          <a:p>
            <a:pPr lvl="0"/>
            <a:r>
              <a:rPr/>
              <a:t>Logic error</a:t>
            </a:r>
          </a:p>
          <a:p>
            <a:pPr lvl="0"/>
            <a:r>
              <a:rPr/>
              <a:t>Runtime error</a:t>
            </a:r>
          </a:p>
          <a:p>
            <a:pPr lvl="0"/>
            <a:r>
              <a:rPr/>
              <a:t>Syntax error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What is the best primitive type to store the number of items in a shopping cart? (1 pt)    </a:t>
            </a:r>
          </a:p>
          <a:p>
            <a:pPr lvl="0" indent="-342900" marL="342900">
              <a:buAutoNum startAt="4" type="arabicPeriod"/>
            </a:pPr>
            <a:r>
              <a:rPr/>
              <a:t>What is the value of (double) 9 / 2? (2 pts)    </a:t>
            </a:r>
          </a:p>
          <a:p>
            <a:pPr lvl="0" indent="-342900" marL="342900">
              <a:buAutoNum startAt="4" type="arabicPeriod"/>
            </a:pPr>
            <a:r>
              <a:rPr/>
              <a:t>Evaluate: (3 pts) </a:t>
            </a:r>
            <a:r>
              <a:rPr>
                <a:latin typeface="Courier"/>
              </a:rPr>
              <a:t>"Total: " + 2 + 3 * 2 + 5</a:t>
            </a:r>
            <a:r>
              <a:rPr/>
              <a:t>        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Objects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we’ll cover:</a:t>
            </a:r>
          </a:p>
          <a:p>
            <a:pPr lvl="0"/>
            <a:r>
              <a:rPr/>
              <a:t>What an object is and why we use them.</a:t>
            </a:r>
          </a:p>
          <a:p>
            <a:pPr lvl="0"/>
            <a:r>
              <a:rPr/>
              <a:t>Classes as blueprints for objects.</a:t>
            </a:r>
          </a:p>
          <a:p>
            <a:pPr lvl="0"/>
            <a:r>
              <a:rPr/>
              <a:t>Constructors, fields, and instance methods.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Transition to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far, we’ve focused on </a:t>
            </a:r>
            <a:r>
              <a:rPr b="1"/>
              <a:t>procedural programming</a:t>
            </a:r>
            <a:r>
              <a:rPr/>
              <a:t>. The program is a set of instructions (</a:t>
            </a:r>
            <a:r>
              <a:rPr>
                <a:latin typeface="Courier"/>
              </a:rPr>
              <a:t>main</a:t>
            </a:r>
            <a:r>
              <a:rPr/>
              <a:t> method) that operates on data (variables).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What happens when our programs get bigger? We end up with long lists of methods that all operate on the same data.</a:t>
            </a:r>
          </a:p>
          <a:p>
            <a:pPr lvl="0" indent="0" marL="0">
              <a:buNone/>
            </a:pPr>
            <a:r>
              <a:rPr b="1"/>
              <a:t>Solution:</a:t>
            </a:r>
            <a:r>
              <a:rPr/>
              <a:t> </a:t>
            </a:r>
            <a:r>
              <a:rPr b="1"/>
              <a:t>Object-Oriented Programming (OOP)</a:t>
            </a:r>
            <a:r>
              <a:rPr/>
              <a:t>. We combine data and the methods that operate on that data into a single unit called an </a:t>
            </a:r>
            <a:r>
              <a:rPr b="1"/>
              <a:t>object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</a:t>
            </a:r>
            <a:r>
              <a:rPr b="1"/>
              <a:t>object</a:t>
            </a:r>
            <a:r>
              <a:rPr/>
              <a:t> is a self-contained unit that has </a:t>
            </a:r>
            <a:r>
              <a:rPr b="1"/>
              <a:t>state</a:t>
            </a:r>
            <a:r>
              <a:rPr/>
              <a:t> and </a:t>
            </a:r>
            <a:r>
              <a:rPr b="1"/>
              <a:t>behavior</a:t>
            </a:r>
            <a:r>
              <a:rPr/>
              <a:t>.</a:t>
            </a:r>
          </a:p>
          <a:p>
            <a:pPr lvl="0"/>
            <a:r>
              <a:rPr b="1"/>
              <a:t>State</a:t>
            </a:r>
            <a:r>
              <a:rPr/>
              <a:t>: The data or properties of the object. These are stored in </a:t>
            </a:r>
            <a:r>
              <a:rPr b="1"/>
              <a:t>fields</a:t>
            </a:r>
            <a:r>
              <a:rPr/>
              <a:t> (variables).</a:t>
            </a:r>
          </a:p>
          <a:p>
            <a:pPr lvl="0"/>
            <a:r>
              <a:rPr b="1"/>
              <a:t>Behavior</a:t>
            </a:r>
            <a:r>
              <a:rPr/>
              <a:t>: The actions the object can perform. These are defined by </a:t>
            </a:r>
            <a:r>
              <a:rPr b="1"/>
              <a:t>methods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Analogy:</a:t>
            </a:r>
            <a:r>
              <a:rPr/>
              <a:t> A car is an object.</a:t>
            </a:r>
          </a:p>
          <a:p>
            <a:pPr lvl="0"/>
            <a:r>
              <a:rPr b="1"/>
              <a:t>State</a:t>
            </a:r>
            <a:r>
              <a:rPr/>
              <a:t>: Color, make, model, speed.</a:t>
            </a:r>
          </a:p>
          <a:p>
            <a:pPr lvl="0"/>
            <a:r>
              <a:rPr b="1"/>
              <a:t>Behavior</a:t>
            </a:r>
            <a:r>
              <a:rPr/>
              <a:t>: </a:t>
            </a:r>
            <a:r>
              <a:rPr>
                <a:latin typeface="Courier"/>
              </a:rPr>
              <a:t>accelerate()</a:t>
            </a:r>
            <a:r>
              <a:rPr/>
              <a:t>, </a:t>
            </a:r>
            <a:r>
              <a:rPr>
                <a:latin typeface="Courier"/>
              </a:rPr>
              <a:t>brake()</a:t>
            </a:r>
            <a:r>
              <a:rPr/>
              <a:t>, </a:t>
            </a:r>
            <a:r>
              <a:rPr>
                <a:latin typeface="Courier"/>
              </a:rPr>
              <a:t>turnOn()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Classes as Blueprints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class</a:t>
            </a:r>
            <a:r>
              <a:rPr/>
              <a:t> is the blueprint or template for creating objects. It defines the fields and methods that all objects of that type will have. You don’t interact with the blueprint directly; you use it to build things.</a:t>
            </a:r>
          </a:p>
          <a:p>
            <a:pPr lvl="0" indent="0" marL="0"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Analogy:</a:t>
            </a:r>
          </a:p>
          <a:p>
            <a:pPr lvl="0"/>
            <a:r>
              <a:rPr b="1"/>
              <a:t>Class:</a:t>
            </a:r>
            <a:r>
              <a:rPr/>
              <a:t> The blueprint for a car. It specifies that all cars will have a color, a model, and methods like </a:t>
            </a:r>
            <a:r>
              <a:rPr>
                <a:latin typeface="Courier"/>
              </a:rPr>
              <a:t>accelerate()</a:t>
            </a:r>
            <a:r>
              <a:rPr/>
              <a:t>.</a:t>
            </a:r>
          </a:p>
          <a:p>
            <a:pPr lvl="0"/>
            <a:r>
              <a:rPr b="1"/>
              <a:t>Object:</a:t>
            </a:r>
            <a:r>
              <a:rPr/>
              <a:t> A specific, physical car created from that blueprint (e.g., a “red Ford Mustang”). You can have many objects from the same class, each with its own unique state.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define a class, you use the </a:t>
            </a:r>
            <a:r>
              <a:rPr>
                <a:latin typeface="Courier"/>
              </a:rPr>
              <a:t>class</a:t>
            </a:r>
            <a:r>
              <a:rPr/>
              <a:t> keyword. Inside the class, you declare fields and methods.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Fields (State)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Methods (Behavior)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bark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"Woof!"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This class defines a </a:t>
            </a:r>
            <a:r>
              <a:rPr>
                <a:latin typeface="Courier"/>
              </a:rPr>
              <a:t>Dog</a:t>
            </a:r>
            <a:r>
              <a:rPr/>
              <a:t> object. Every </a:t>
            </a:r>
            <a:r>
              <a:rPr>
                <a:latin typeface="Courier"/>
              </a:rPr>
              <a:t>Dog</a:t>
            </a:r>
            <a:r>
              <a:rPr/>
              <a:t> object we create from this blueprint will have a </a:t>
            </a:r>
            <a:r>
              <a:rPr>
                <a:latin typeface="Courier"/>
              </a:rPr>
              <a:t>name</a:t>
            </a:r>
            <a:r>
              <a:rPr/>
              <a:t>, an </a:t>
            </a:r>
            <a:r>
              <a:rPr>
                <a:latin typeface="Courier"/>
              </a:rPr>
              <a:t>age</a:t>
            </a:r>
            <a:r>
              <a:rPr/>
              <a:t>, and the ability to </a:t>
            </a:r>
            <a:r>
              <a:rPr>
                <a:latin typeface="Courier"/>
              </a:rPr>
              <a:t>bark()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Syntax for Class</a:t>
            </a:r>
          </a:p>
          <a:p>
            <a:pPr lvl="0" indent="0" marL="0">
              <a:buNone/>
            </a:pPr>
            <a:r>
              <a:rPr/>
              <a:t>Syntax for </a:t>
            </a:r>
            <a:r>
              <a:rPr>
                <a:latin typeface="Courier"/>
              </a:rPr>
              <a:t>&lt;class_name&gt;</a:t>
            </a:r>
            <a:r>
              <a:rPr/>
              <a:t>.java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class_name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Syntax for Book.java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Book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Object</a:t>
            </a:r>
            <a:r>
              <a:rPr/>
              <a:t> a programming entity that contains </a:t>
            </a:r>
            <a:r>
              <a:rPr b="1"/>
              <a:t>state</a:t>
            </a:r>
            <a:r>
              <a:rPr/>
              <a:t>(data) and </a:t>
            </a:r>
            <a:r>
              <a:rPr b="1"/>
              <a:t>behavior</a:t>
            </a:r>
            <a:r>
              <a:rPr/>
              <a:t>(methods)</a:t>
            </a:r>
          </a:p>
          <a:p>
            <a:pPr lvl="0"/>
            <a:r>
              <a:rPr/>
              <a:t>State</a:t>
            </a:r>
          </a:p>
          <a:p>
            <a:pPr lvl="1"/>
            <a:r>
              <a:rPr/>
              <a:t>A set of values (internal data) stored in an object.</a:t>
            </a:r>
          </a:p>
          <a:p>
            <a:pPr lvl="1"/>
            <a:r>
              <a:rPr/>
              <a:t>Represented by </a:t>
            </a:r>
            <a:r>
              <a:rPr i="1"/>
              <a:t>fields</a:t>
            </a:r>
            <a:r>
              <a:rPr/>
              <a:t> within the class</a:t>
            </a:r>
          </a:p>
          <a:p>
            <a:pPr lvl="0"/>
            <a:r>
              <a:rPr/>
              <a:t>Behavior</a:t>
            </a:r>
          </a:p>
          <a:p>
            <a:pPr lvl="1"/>
            <a:r>
              <a:rPr/>
              <a:t>A set of actions an object can perform, often reporting or modifying its internal state.</a:t>
            </a:r>
          </a:p>
          <a:p>
            <a:pPr lvl="1"/>
            <a:r>
              <a:rPr/>
              <a:t>Represented by instance methods within the class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Field</a:t>
            </a:r>
            <a:r>
              <a:rPr/>
              <a:t>: a variable inside an object that makes up part of its internal state</a:t>
            </a:r>
          </a:p>
          <a:p>
            <a:pPr lvl="0" indent="0" marL="0">
              <a:buNone/>
            </a:pPr>
            <a:r>
              <a:rPr/>
              <a:t>State-only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Book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Title of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title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Author of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author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Publication year of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pubYear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i="1"/>
              <a:t>Declaring field is same normal variables: type and name</a:t>
            </a:r>
          </a:p>
          <a:p>
            <a:pPr lvl="0" indent="0" marL="0">
              <a:buNone/>
            </a:pPr>
            <a:r>
              <a:rPr b="1"/>
              <a:t>Difference</a:t>
            </a:r>
            <a:r>
              <a:rPr/>
              <a:t> - Directly inside braces of class - We’re saying –we want every object of the class to have the variables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Fields are given </a:t>
            </a:r>
            <a:r>
              <a:rPr i="1"/>
              <a:t>default initial values</a:t>
            </a:r>
            <a:r>
              <a:rPr/>
              <a:t> when an object is constructed</a:t>
            </a:r>
          </a:p>
          <a:p>
            <a:pPr lvl="0" indent="0" marL="0">
              <a:buNone/>
            </a:pPr>
            <a:r>
              <a:rPr/>
              <a:t>Define the </a:t>
            </a:r>
            <a:r>
              <a:rPr i="1"/>
              <a:t>fields at the top of the class</a:t>
            </a:r>
            <a:r>
              <a:rPr/>
              <a:t> definition</a:t>
            </a:r>
          </a:p>
          <a:p>
            <a:pPr lvl="0" indent="0" marL="0">
              <a:buNone/>
            </a:pPr>
            <a:r>
              <a:rPr/>
              <a:t>Classes that create instances of your class can access the fields (unless private)</a:t>
            </a:r>
          </a:p>
          <a:p>
            <a:pPr lvl="0" indent="0" marL="0">
              <a:buNone/>
            </a:pPr>
            <a:r>
              <a:rPr/>
              <a:t>Retrieve value: </a:t>
            </a:r>
            <a:r>
              <a:rPr>
                <a:latin typeface="Courier"/>
              </a:rPr>
              <a:t>book1.title;</a:t>
            </a:r>
            <a:r>
              <a:rPr/>
              <a:t> Modify value: </a:t>
            </a:r>
            <a:r>
              <a:rPr>
                <a:latin typeface="Courier"/>
              </a:rPr>
              <a:t>book1.title = "Harry Potter";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Book Example - Fields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8000"/>
                </a:solidFill>
                <a:latin typeface="Courier"/>
              </a:rPr>
              <a:t>java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8000"/>
                </a:solidFill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8000"/>
                </a:solidFill>
                <a:latin typeface="Courier"/>
              </a:rPr>
              <a:t>Date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Book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Title of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title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Author of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author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Publication year of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pubYear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Person who has checked out the book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checkedOut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Location of the book in the stacks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location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r>
              <a:rPr>
                <a:latin typeface="Courier"/>
              </a:rPr>
              <a:t> Date a checked out book is due </a:t>
            </a:r>
            <a:r>
              <a:rPr i="1">
                <a:solidFill>
                  <a:srgbClr val="60A0B0"/>
                </a:solidFill>
                <a:latin typeface="Courier"/>
              </a:rPr>
              <a:t>*/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 dueDate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Instance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 defined inside a class are called </a:t>
            </a:r>
            <a:r>
              <a:rPr b="1"/>
              <a:t>instance methods</a:t>
            </a:r>
            <a:r>
              <a:rPr/>
              <a:t>. They operate on the specific object they are called on. They can access the object’s fields directly.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bark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An instance method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says woof!"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In main:</a:t>
            </a:r>
            <a:br/>
            <a:r>
              <a:rPr>
                <a:latin typeface="Courier"/>
              </a:rPr>
              <a:t>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"Fido"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bark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Output: Fido says woof!</a:t>
            </a:r>
          </a:p>
          <a:p>
            <a:pPr lvl="0" indent="0" marL="0">
              <a:buNone/>
            </a:pPr>
            <a:r>
              <a:rPr/>
              <a:t>When </a:t>
            </a:r>
            <a:r>
              <a:rPr>
                <a:latin typeface="Courier"/>
              </a:rPr>
              <a:t>myDog.bark()</a:t>
            </a:r>
            <a:r>
              <a:rPr/>
              <a:t> is called, the </a:t>
            </a:r>
            <a:r>
              <a:rPr>
                <a:latin typeface="Courier"/>
              </a:rPr>
              <a:t>bark()</a:t>
            </a:r>
            <a:r>
              <a:rPr/>
              <a:t> method knows to use </a:t>
            </a:r>
            <a:r>
              <a:rPr>
                <a:latin typeface="Courier"/>
              </a:rPr>
              <a:t>myDog</a:t>
            </a:r>
            <a:r>
              <a:rPr/>
              <a:t>’s </a:t>
            </a:r>
            <a:r>
              <a:rPr>
                <a:latin typeface="Courier"/>
              </a:rPr>
              <a:t>name</a:t>
            </a:r>
            <a:r>
              <a:rPr/>
              <a:t> field.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Static Methods vs. Instance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common point of confusion.</a:t>
            </a:r>
          </a:p>
          <a:p>
            <a:pPr lvl="0"/>
            <a:r>
              <a:rPr b="1"/>
              <a:t>Static Methods (</a:t>
            </a:r>
            <a:r>
              <a:rPr b="1">
                <a:latin typeface="Courier"/>
              </a:rPr>
              <a:t>static</a:t>
            </a:r>
            <a:r>
              <a:rPr b="1"/>
              <a:t>)</a:t>
            </a:r>
            <a:r>
              <a:rPr/>
              <a:t>: Belong to the </a:t>
            </a:r>
            <a:r>
              <a:rPr b="1"/>
              <a:t>class</a:t>
            </a:r>
            <a:r>
              <a:rPr/>
              <a:t>, not a specific object. You call them using the class name (e.g., </a:t>
            </a:r>
            <a:r>
              <a:rPr>
                <a:latin typeface="Courier"/>
              </a:rPr>
              <a:t>Math.random()</a:t>
            </a:r>
            <a:r>
              <a:rPr/>
              <a:t>). They </a:t>
            </a:r>
            <a:r>
              <a:rPr b="1"/>
              <a:t>cannot</a:t>
            </a:r>
            <a:r>
              <a:rPr/>
              <a:t> access instance fields.</a:t>
            </a:r>
          </a:p>
          <a:p>
            <a:pPr lvl="0"/>
            <a:r>
              <a:rPr b="1"/>
              <a:t>Instance Methods (no </a:t>
            </a:r>
            <a:r>
              <a:rPr b="1">
                <a:latin typeface="Courier"/>
              </a:rPr>
              <a:t>static</a:t>
            </a:r>
            <a:r>
              <a:rPr b="1"/>
              <a:t>)</a:t>
            </a:r>
            <a:r>
              <a:rPr/>
              <a:t>: Belong to a specific </a:t>
            </a:r>
            <a:r>
              <a:rPr b="1"/>
              <a:t>object</a:t>
            </a:r>
            <a:r>
              <a:rPr/>
              <a:t>. They can access the object’s fields and methods. You must have an object to call them (e.g., </a:t>
            </a:r>
            <a:r>
              <a:rPr>
                <a:latin typeface="Courier"/>
              </a:rPr>
              <a:t>myDog.bark()</a:t>
            </a:r>
            <a:r>
              <a:rPr/>
              <a:t>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toString()</a:t>
            </a:r>
            <a:r>
              <a:rPr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toString()</a:t>
            </a:r>
            <a:r>
              <a:rPr/>
              <a:t> method is a special instance method that returns a </a:t>
            </a:r>
            <a:r>
              <a:rPr>
                <a:latin typeface="Courier"/>
              </a:rPr>
              <a:t>String</a:t>
            </a:r>
            <a:r>
              <a:rPr/>
              <a:t> representation of an object. It’s often used for debugging or printing objects.</a:t>
            </a:r>
          </a:p>
          <a:p>
            <a:pPr lvl="0"/>
            <a:r>
              <a:rPr b="1"/>
              <a:t>Default behavior</a:t>
            </a:r>
            <a:r>
              <a:rPr/>
              <a:t>: It prints a gibberish-looking string (e.g., </a:t>
            </a:r>
            <a:r>
              <a:rPr>
                <a:latin typeface="Courier"/>
              </a:rPr>
              <a:t>Dog@765f33f0</a:t>
            </a:r>
            <a:r>
              <a:rPr/>
              <a:t>).</a:t>
            </a:r>
          </a:p>
          <a:p>
            <a:pPr lvl="0"/>
            <a:r>
              <a:rPr b="1"/>
              <a:t>Good practice</a:t>
            </a:r>
            <a:r>
              <a:rPr/>
              <a:t>: </a:t>
            </a:r>
            <a:r>
              <a:rPr i="1"/>
              <a:t>Override</a:t>
            </a:r>
            <a:r>
              <a:rPr/>
              <a:t> the </a:t>
            </a:r>
            <a:r>
              <a:rPr>
                <a:latin typeface="Courier"/>
              </a:rPr>
              <a:t>toString()</a:t>
            </a:r>
            <a:r>
              <a:rPr/>
              <a:t> method to provide a meaningful string.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@Override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This annotation is good practice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toString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"Dog[name="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name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", age="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age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"]"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toString()</a:t>
            </a:r>
            <a:r>
              <a:rPr/>
              <a:t>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when you try to print your object, you get a clean output.</a:t>
            </a:r>
          </a:p>
          <a:p>
            <a:pPr lvl="0" indent="0">
              <a:buNone/>
            </a:pPr>
            <a:r>
              <a:rPr>
                <a:latin typeface="Courier"/>
              </a:rPr>
              <a:t>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"Fido"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Output: Dog[name=Fido, age=3]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println()</a:t>
            </a:r>
            <a:r>
              <a:rPr/>
              <a:t> method automatically calls </a:t>
            </a:r>
            <a:r>
              <a:rPr>
                <a:latin typeface="Courier"/>
              </a:rPr>
              <a:t>toString()</a:t>
            </a:r>
            <a:r>
              <a:rPr/>
              <a:t> if you pass it an object.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Creating a </a:t>
            </a:r>
            <a:r>
              <a:rPr>
                <a:latin typeface="Courier"/>
              </a:rPr>
              <a:t>Transaction</a:t>
            </a:r>
            <a:r>
              <a:rPr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do a quick exercise to refresh these concepts.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Create a class called </a:t>
            </a:r>
            <a:r>
              <a:rPr>
                <a:latin typeface="Courier"/>
              </a:rPr>
              <a:t>Transaction</a:t>
            </a:r>
            <a:r>
              <a:rPr/>
              <a:t>.</a:t>
            </a:r>
          </a:p>
          <a:p>
            <a:pPr lvl="0"/>
            <a:r>
              <a:rPr/>
              <a:t>It should have fields for </a:t>
            </a:r>
            <a:r>
              <a:rPr>
                <a:latin typeface="Courier"/>
              </a:rPr>
              <a:t>description</a:t>
            </a:r>
            <a:r>
              <a:rPr/>
              <a:t> (String), </a:t>
            </a:r>
            <a:r>
              <a:rPr>
                <a:latin typeface="Courier"/>
              </a:rPr>
              <a:t>date</a:t>
            </a:r>
            <a:r>
              <a:rPr/>
              <a:t> (String), and </a:t>
            </a:r>
            <a:r>
              <a:rPr>
                <a:latin typeface="Courier"/>
              </a:rPr>
              <a:t>amount</a:t>
            </a:r>
            <a:r>
              <a:rPr/>
              <a:t> (double)</a:t>
            </a:r>
          </a:p>
          <a:p>
            <a:pPr lvl="0"/>
            <a:r>
              <a:rPr/>
              <a:t>override the </a:t>
            </a:r>
            <a:r>
              <a:rPr>
                <a:latin typeface="Courier"/>
              </a:rPr>
              <a:t>toString</a:t>
            </a:r>
            <a:r>
              <a:rPr/>
              <a:t> method to display the transaction information in a clear format.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Creating an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create an object from a class using the </a:t>
            </a:r>
            <a:r>
              <a:rPr>
                <a:latin typeface="Courier"/>
              </a:rPr>
              <a:t>new</a:t>
            </a:r>
            <a:r>
              <a:rPr/>
              <a:t> keyword. This is also called </a:t>
            </a:r>
            <a:r>
              <a:rPr b="1"/>
              <a:t>instantiating</a:t>
            </a:r>
            <a:r>
              <a:rPr/>
              <a:t> an object.</a:t>
            </a:r>
          </a:p>
          <a:p>
            <a:pPr lvl="0" indent="0" marL="0">
              <a:buNone/>
            </a:pPr>
            <a:r>
              <a:rPr b="1"/>
              <a:t>Syntax:</a:t>
            </a:r>
            <a:r>
              <a:rPr/>
              <a:t> </a:t>
            </a:r>
            <a:r>
              <a:rPr>
                <a:latin typeface="Courier"/>
              </a:rPr>
              <a:t>ClassName objectName = new ClassName();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</a:p>
          <a:p>
            <a:pPr lvl="0"/>
            <a:r>
              <a:rPr>
                <a:latin typeface="Courier"/>
              </a:rPr>
              <a:t>myDog</a:t>
            </a:r>
            <a:r>
              <a:rPr/>
              <a:t> is an </a:t>
            </a:r>
            <a:r>
              <a:rPr b="1"/>
              <a:t>object variable</a:t>
            </a:r>
            <a:r>
              <a:rPr/>
              <a:t> that holds a reference to a new </a:t>
            </a:r>
            <a:r>
              <a:rPr>
                <a:latin typeface="Courier"/>
              </a:rPr>
              <a:t>Dog</a:t>
            </a:r>
            <a:r>
              <a:rPr/>
              <a:t> object.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new Dog()</a:t>
            </a:r>
            <a:r>
              <a:rPr/>
              <a:t> part creates the new object in memory.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Accessing an Object’s Fields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use the </a:t>
            </a:r>
            <a:r>
              <a:rPr b="1"/>
              <a:t>dot operator (</a:t>
            </a:r>
            <a:r>
              <a:rPr b="1">
                <a:latin typeface="Courier"/>
              </a:rPr>
              <a:t>.</a:t>
            </a:r>
            <a:r>
              <a:rPr b="1"/>
              <a:t>)</a:t>
            </a:r>
            <a:r>
              <a:rPr/>
              <a:t> to access an object’s fields and methods.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Set the state of the object</a:t>
            </a:r>
            <a:br/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"Fido"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age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Call a method on the object</a:t>
            </a:r>
            <a:br/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bark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Output: "Woof!"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is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age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years old."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Output: "Fido is 3 years old."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- creating a </a:t>
            </a:r>
            <a:r>
              <a:rPr>
                <a:latin typeface="Courier"/>
              </a:rPr>
              <a:t>Course</a:t>
            </a:r>
            <a:r>
              <a:rPr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Create a </a:t>
            </a:r>
            <a:r>
              <a:rPr>
                <a:latin typeface="Courier"/>
              </a:rPr>
              <a:t>Course</a:t>
            </a:r>
            <a:r>
              <a:rPr/>
              <a:t> class with the </a:t>
            </a:r>
            <a:r>
              <a:rPr>
                <a:latin typeface="Courier"/>
              </a:rPr>
              <a:t>string</a:t>
            </a:r>
            <a:r>
              <a:rPr/>
              <a:t> fields </a:t>
            </a:r>
            <a:r>
              <a:rPr>
                <a:latin typeface="Courier"/>
              </a:rPr>
              <a:t>code</a:t>
            </a:r>
            <a:r>
              <a:rPr/>
              <a:t> and </a:t>
            </a:r>
            <a:r>
              <a:rPr>
                <a:latin typeface="Courier"/>
              </a:rPr>
              <a:t>title</a:t>
            </a:r>
            <a:r>
              <a:rPr/>
              <a:t>.</a:t>
            </a:r>
          </a:p>
          <a:p>
            <a:pPr lvl="0"/>
            <a:r>
              <a:rPr/>
              <a:t>Add a method called </a:t>
            </a:r>
            <a:r>
              <a:rPr>
                <a:latin typeface="Courier"/>
              </a:rPr>
              <a:t>print()</a:t>
            </a:r>
            <a:r>
              <a:rPr/>
              <a:t> to print these fields.</a:t>
            </a:r>
          </a:p>
          <a:p>
            <a:pPr lvl="0"/>
            <a:r>
              <a:rPr/>
              <a:t>Create an object and assign the values </a:t>
            </a:r>
            <a:r>
              <a:rPr>
                <a:latin typeface="Courier"/>
              </a:rPr>
              <a:t>"COSC130"</a:t>
            </a:r>
            <a:r>
              <a:rPr/>
              <a:t>, and </a:t>
            </a:r>
            <a:r>
              <a:rPr>
                <a:latin typeface="Courier"/>
              </a:rPr>
              <a:t>"INTRO TO COMPUTER SCIENCE II"</a:t>
            </a:r>
            <a:r>
              <a:rPr/>
              <a:t> to the </a:t>
            </a:r>
            <a:r>
              <a:rPr>
                <a:latin typeface="Courier"/>
              </a:rPr>
              <a:t>code</a:t>
            </a:r>
            <a:r>
              <a:rPr/>
              <a:t> and title </a:t>
            </a:r>
            <a:r>
              <a:rPr>
                <a:latin typeface="Courier"/>
              </a:rPr>
              <a:t>respectively</a:t>
            </a:r>
            <a:r>
              <a:rPr/>
              <a:t>.</a:t>
            </a:r>
          </a:p>
          <a:p>
            <a:pPr lvl="0"/>
            <a:r>
              <a:rPr/>
              <a:t>Call the </a:t>
            </a:r>
            <a:r>
              <a:rPr>
                <a:latin typeface="Courier"/>
              </a:rPr>
              <a:t>print()</a:t>
            </a:r>
            <a:r>
              <a:rPr/>
              <a:t> method of the object to print these fields.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constructor</a:t>
            </a:r>
            <a:r>
              <a:rPr/>
              <a:t> is a special method used to </a:t>
            </a:r>
            <a:r>
              <a:rPr b="1"/>
              <a:t>initialize</a:t>
            </a:r>
            <a:r>
              <a:rPr/>
              <a:t> a new object. It’s called automatically when you use the </a:t>
            </a:r>
            <a:r>
              <a:rPr>
                <a:latin typeface="Courier"/>
              </a:rPr>
              <a:t>new</a:t>
            </a:r>
            <a:r>
              <a:rPr/>
              <a:t> keyword.</a:t>
            </a:r>
          </a:p>
          <a:p>
            <a:pPr lvl="0"/>
            <a:r>
              <a:rPr/>
              <a:t>A constructor has the same name as the class.</a:t>
            </a:r>
          </a:p>
          <a:p>
            <a:pPr lvl="0"/>
            <a:r>
              <a:rPr/>
              <a:t>It has </a:t>
            </a:r>
            <a:r>
              <a:rPr b="1"/>
              <a:t>no return type</a:t>
            </a:r>
            <a:r>
              <a:rPr/>
              <a:t> (not even </a:t>
            </a:r>
            <a:r>
              <a:rPr>
                <a:latin typeface="Courier"/>
              </a:rPr>
              <a:t>void</a:t>
            </a:r>
            <a:r>
              <a:rPr/>
              <a:t>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Constructor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dogName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dogAge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dogName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dogAge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a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when we create a </a:t>
            </a:r>
            <a:r>
              <a:rPr>
                <a:latin typeface="Courier"/>
              </a:rPr>
              <a:t>Dog</a:t>
            </a:r>
            <a:r>
              <a:rPr/>
              <a:t> object, we can provide the initial values directly.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Create a Dog object using the constructor</a:t>
            </a:r>
            <a:br/>
            <a:r>
              <a:rPr>
                <a:latin typeface="Courier"/>
              </a:rPr>
              <a:t>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"Fido"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Output: Fido</a:t>
            </a:r>
          </a:p>
          <a:p>
            <a:pPr lvl="0" indent="0" marL="0">
              <a:buNone/>
            </a:pPr>
            <a:r>
              <a:rPr/>
              <a:t>This is a much cleaner way to create and set up an object.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Default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don’t provide any constructor, Java creates a </a:t>
            </a:r>
            <a:r>
              <a:rPr b="1"/>
              <a:t>default constructor</a:t>
            </a:r>
            <a:r>
              <a:rPr/>
              <a:t> for you. It’s a constructor with no parameters that doesn’t do anything.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No constructor defined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In main:</a:t>
            </a:r>
            <a:br/>
            <a:r>
              <a:rPr>
                <a:latin typeface="Courier"/>
              </a:rPr>
              <a:t>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This works!</a:t>
            </a:r>
          </a:p>
          <a:p>
            <a:pPr lvl="0" indent="0" marL="0">
              <a:buNone/>
            </a:pPr>
            <a:r>
              <a:rPr/>
              <a:t>But once you create your own constructor, the default constructor is </a:t>
            </a:r>
            <a:r>
              <a:rPr b="1"/>
              <a:t>no longer available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this</a:t>
            </a:r>
            <a:r>
              <a:rPr/>
              <a:t>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Inside a class, the </a:t>
            </a:r>
            <a:r>
              <a:rPr b="1">
                <a:latin typeface="Courier"/>
              </a:rPr>
              <a:t>this</a:t>
            </a:r>
            <a:r>
              <a:rPr b="1"/>
              <a:t> keyword</a:t>
            </a:r>
            <a:r>
              <a:rPr/>
              <a:t> refers to the current object. It’s often used to distinguish between a parameter and a field that have the same name.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refers to the object's name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age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// refers to the object's age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This makes the code more concise and readable.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of Object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Class</a:t>
            </a:r>
            <a:r>
              <a:rPr/>
              <a:t>: The blueprint.</a:t>
            </a:r>
          </a:p>
          <a:p>
            <a:pPr lvl="0"/>
            <a:r>
              <a:rPr b="1"/>
              <a:t>Object</a:t>
            </a:r>
            <a:r>
              <a:rPr/>
              <a:t>: An instance of a class.</a:t>
            </a:r>
          </a:p>
          <a:p>
            <a:pPr lvl="0"/>
            <a:r>
              <a:rPr b="1"/>
              <a:t>Fields</a:t>
            </a:r>
            <a:r>
              <a:rPr/>
              <a:t>: The data (state) of an object.</a:t>
            </a:r>
          </a:p>
          <a:p>
            <a:pPr lvl="0"/>
            <a:r>
              <a:rPr b="1"/>
              <a:t>Methods</a:t>
            </a:r>
            <a:r>
              <a:rPr/>
              <a:t>: The actions (behavior) of an object.</a:t>
            </a:r>
          </a:p>
          <a:p>
            <a:pPr lvl="0"/>
            <a:r>
              <a:rPr b="1"/>
              <a:t>Constructor</a:t>
            </a:r>
            <a:r>
              <a:rPr/>
              <a:t>: A special method to create and initialize an object.</a:t>
            </a:r>
          </a:p>
          <a:p>
            <a:pPr lvl="0"/>
            <a:r>
              <a:rPr b="1">
                <a:latin typeface="Courier"/>
              </a:rPr>
              <a:t>new</a:t>
            </a:r>
            <a:r>
              <a:rPr/>
              <a:t>: The keyword used to create an object.</a:t>
            </a:r>
          </a:p>
          <a:p>
            <a:pPr lvl="0"/>
            <a:r>
              <a:rPr b="1">
                <a:latin typeface="Courier"/>
              </a:rPr>
              <a:t>this</a:t>
            </a:r>
            <a:r>
              <a:rPr/>
              <a:t>: Refers to the current object.</a:t>
            </a:r>
          </a:p>
          <a:p>
            <a:pPr lvl="0"/>
            <a:r>
              <a:rPr b="1"/>
              <a:t>Dot operator (</a:t>
            </a:r>
            <a:r>
              <a:rPr b="1">
                <a:latin typeface="Courier"/>
              </a:rPr>
              <a:t>.</a:t>
            </a:r>
            <a:r>
              <a:rPr b="1"/>
              <a:t>)</a:t>
            </a:r>
            <a:r>
              <a:rPr/>
              <a:t>: Used to access an object’s fields and methods.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Creating a </a:t>
            </a:r>
            <a:r>
              <a:rPr>
                <a:latin typeface="Courier"/>
              </a:rPr>
              <a:t>Student</a:t>
            </a:r>
            <a:r>
              <a:rPr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do a quick exercise to refresh these concepts.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Create a class called </a:t>
            </a:r>
            <a:r>
              <a:rPr>
                <a:latin typeface="Courier"/>
              </a:rPr>
              <a:t>Student</a:t>
            </a:r>
            <a:r>
              <a:rPr/>
              <a:t>.</a:t>
            </a:r>
          </a:p>
          <a:p>
            <a:pPr lvl="0"/>
            <a:r>
              <a:rPr/>
              <a:t>It should have fields for </a:t>
            </a:r>
            <a:r>
              <a:rPr>
                <a:latin typeface="Courier"/>
              </a:rPr>
              <a:t>studentName</a:t>
            </a:r>
            <a:r>
              <a:rPr/>
              <a:t> (String), </a:t>
            </a:r>
            <a:r>
              <a:rPr>
                <a:latin typeface="Courier"/>
              </a:rPr>
              <a:t>major</a:t>
            </a:r>
            <a:r>
              <a:rPr/>
              <a:t> (String), and </a:t>
            </a:r>
            <a:r>
              <a:rPr>
                <a:latin typeface="Courier"/>
              </a:rPr>
              <a:t>gradYear</a:t>
            </a:r>
            <a:r>
              <a:rPr/>
              <a:t> (int)</a:t>
            </a:r>
          </a:p>
          <a:p>
            <a:pPr lvl="0"/>
            <a:r>
              <a:rPr/>
              <a:t>create constructor to initialize the fields</a:t>
            </a:r>
          </a:p>
          <a:p>
            <a:pPr lvl="0"/>
            <a:r>
              <a:rPr/>
              <a:t>override the </a:t>
            </a:r>
            <a:r>
              <a:rPr>
                <a:latin typeface="Courier"/>
              </a:rPr>
              <a:t>toString</a:t>
            </a:r>
            <a:r>
              <a:rPr/>
              <a:t> method to display the “ is majoring in  and will graduate in ”.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Passing Objects to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pass objects to methods as arguments. This is a powerful way to share and manipulate data.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giveShot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Dog dog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got a shot!"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static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args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Vet myVet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Vet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Dog myDog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"Fido"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myVet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giveShot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myDog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Passing the myDog object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 of Objects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Student Object</a:t>
            </a:r>
          </a:p>
          <a:p>
            <a:pPr lvl="0" indent="0" marL="0">
              <a:buNone/>
            </a:pPr>
            <a:r>
              <a:rPr/>
              <a:t>Student stores student name, major, and graduation year.</a:t>
            </a:r>
          </a:p>
          <a:p>
            <a:pPr lvl="0"/>
            <a:r>
              <a:rPr/>
              <a:t>Must be constructed using the new keyword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(&lt;</a:t>
            </a:r>
            <a:r>
              <a:rPr>
                <a:latin typeface="Courier"/>
              </a:rPr>
              <a:t>student_name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major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grad_year</a:t>
            </a:r>
            <a:r>
              <a:rPr>
                <a:solidFill>
                  <a:srgbClr val="666666"/>
                </a:solidFill>
                <a:latin typeface="Courier"/>
              </a:rPr>
              <a:t>&gt;);</a:t>
            </a:r>
          </a:p>
          <a:p>
            <a:pPr lvl="0"/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 studentA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"Student 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"COSC"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208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Array of Objects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students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Student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</a:p>
        </p:txBody>
      </p:sp>
      <p:pic>
        <p:nvPicPr>
          <p:cNvPr descr="images/studentsArrayIni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00200"/>
            <a:ext cx="5105400" cy="109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Student Array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legal (will not throw an exception) to:</a:t>
            </a:r>
          </a:p>
          <a:p>
            <a:pPr lvl="0"/>
            <a:r>
              <a:rPr/>
              <a:t>store </a:t>
            </a:r>
            <a:r>
              <a:rPr>
                <a:latin typeface="Courier"/>
              </a:rPr>
              <a:t>null</a:t>
            </a:r>
            <a:r>
              <a:rPr/>
              <a:t> in a variable or array element (often as a dummy value, an initial value to be overwritten later)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print a </a:t>
            </a:r>
            <a:r>
              <a:rPr>
                <a:latin typeface="Courier"/>
              </a:rPr>
              <a:t>null</a:t>
            </a:r>
            <a:r>
              <a:rPr/>
              <a:t> reference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// will print: null</a:t>
            </a:r>
          </a:p>
          <a:p>
            <a:pPr lvl="0"/>
            <a:r>
              <a:rPr/>
              <a:t>ask whether a variable or array element is </a:t>
            </a:r>
            <a:r>
              <a:rPr>
                <a:latin typeface="Courier"/>
              </a:rPr>
              <a:t>null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  <a:p>
            <a:pPr lvl="0"/>
            <a:r>
              <a:rPr/>
              <a:t>pass </a:t>
            </a:r>
            <a:r>
              <a:rPr>
                <a:latin typeface="Courier"/>
              </a:rPr>
              <a:t>null</a:t>
            </a:r>
            <a:r>
              <a:rPr/>
              <a:t> as a parameter to a method</a:t>
            </a:r>
          </a:p>
          <a:p>
            <a:pPr lvl="0"/>
            <a:r>
              <a:rPr/>
              <a:t>return </a:t>
            </a:r>
            <a:r>
              <a:rPr>
                <a:latin typeface="Courier"/>
              </a:rPr>
              <a:t>null</a:t>
            </a:r>
            <a:r>
              <a:rPr/>
              <a:t> from a method (often as an indication of failure, such as a method that searches for an object in a file/array but does not find it)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NullPointerException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not legal to dereference a </a:t>
            </a:r>
            <a:r>
              <a:rPr>
                <a:latin typeface="Courier"/>
              </a:rPr>
              <a:t>null</a:t>
            </a:r>
            <a:r>
              <a:rPr/>
              <a:t> value (trying to access any of its methods or data using . (dot) notation)</a:t>
            </a:r>
          </a:p>
          <a:p>
            <a:pPr lvl="0" indent="0" marL="0">
              <a:buNone/>
            </a:pPr>
            <a:r>
              <a:rPr/>
              <a:t>Since </a:t>
            </a:r>
            <a:r>
              <a:rPr>
                <a:latin typeface="Courier"/>
              </a:rPr>
              <a:t>null</a:t>
            </a:r>
            <a:r>
              <a:rPr/>
              <a:t> is not an actual object, it has no methods or data. Trying to access them crashes your program.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ExampleNull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static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args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 0 is: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]);</a:t>
            </a:r>
            <a:br/>
            <a:r>
              <a:rPr>
                <a:latin typeface="Courier"/>
              </a:rPr>
              <a:t>       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].</a:t>
            </a:r>
            <a:r>
              <a:rPr>
                <a:solidFill>
                  <a:srgbClr val="06287E"/>
                </a:solidFill>
                <a:latin typeface="Courier"/>
              </a:rPr>
              <a:t>toUpperCase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bad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 0 is now: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java -cp bin ExampleNull
word 0 is: null
Exception in thread "main" java.lang.NullPointerException
    at ExampleNull.main(ExampleNull.java:6)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Avoiding </a:t>
            </a:r>
            <a:r>
              <a:rPr>
                <a:latin typeface="Courier"/>
              </a:rPr>
              <a:t>NullPointerException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dealing with elements that may be null, you must take care to check for null before any calls.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WordCounts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static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args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  <a:br/>
            <a:r>
              <a:rPr>
                <a:latin typeface="Courier"/>
              </a:rPr>
              <a:t>       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"goodbye"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words[1], [3], [4] are null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totalLetters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++)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totalLetters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].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System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"letters: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totalLetters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12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java -cp bin WordCounts
letters: 12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Two-Phase Initialization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of objects should use a 2-phase initialization:</a:t>
            </a:r>
          </a:p>
          <a:p>
            <a:pPr lvl="0"/>
            <a:r>
              <a:rPr/>
              <a:t>initializing the array itself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students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Student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</a:p>
        </p:txBody>
      </p:sp>
      <p:pic>
        <p:nvPicPr>
          <p:cNvPr descr="images/studentsArrayIni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00200"/>
            <a:ext cx="5105400" cy="109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Student Array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 initializing the object stored into each element of the array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"Student 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"CSC"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2020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students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students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  <a:br/>
            <a:r>
              <a:rPr>
                <a:latin typeface="Courier"/>
              </a:rPr>
              <a:t>students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"Student 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"CSC"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</p:txBody>
      </p:sp>
      <p:pic>
        <p:nvPicPr>
          <p:cNvPr descr="images/studentsArrayPhaseTw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Student Array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Client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Objects themselves are not complete programs; they are components that are given distinct roles and responsibilities</a:t>
            </a:r>
          </a:p>
          <a:p>
            <a:pPr lvl="0" indent="0" marL="0">
              <a:buNone/>
            </a:pPr>
            <a:r>
              <a:rPr/>
              <a:t>Objects can be used as part of larger programs to solve programs</a:t>
            </a:r>
          </a:p>
          <a:p>
            <a:pPr lvl="0" indent="0" marL="0">
              <a:buNone/>
            </a:pPr>
            <a:r>
              <a:rPr b="1"/>
              <a:t>Client (or Client Code):</a:t>
            </a:r>
            <a:r>
              <a:rPr/>
              <a:t> code that interacts with a class or objects of that class</a:t>
            </a:r>
          </a:p>
          <a:p>
            <a:pPr lvl="0" indent="0" marL="0">
              <a:buNone/>
            </a:pPr>
            <a:r>
              <a:rPr b="1"/>
              <a:t>Thus, objects are reusable. Example: String Class.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Pass-by-Value (for objects)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Java, arguments are always </a:t>
            </a:r>
            <a:r>
              <a:rPr b="1"/>
              <a:t>passed by value</a:t>
            </a:r>
            <a:r>
              <a:rPr/>
              <a:t>. For primitive types (</a:t>
            </a:r>
            <a:r>
              <a:rPr>
                <a:latin typeface="Courier"/>
              </a:rPr>
              <a:t>int</a:t>
            </a:r>
            <a:r>
              <a:rPr/>
              <a:t>, </a:t>
            </a:r>
            <a:r>
              <a:rPr>
                <a:latin typeface="Courier"/>
              </a:rPr>
              <a:t>double</a:t>
            </a:r>
            <a:r>
              <a:rPr/>
              <a:t>), the value is copied. For objects, the </a:t>
            </a:r>
            <a:r>
              <a:rPr b="1"/>
              <a:t>reference</a:t>
            </a:r>
            <a:r>
              <a:rPr/>
              <a:t> to the object is copied.</a:t>
            </a:r>
          </a:p>
          <a:p>
            <a:pPr lvl="0"/>
            <a:r>
              <a:rPr/>
              <a:t>If you change the object’s state inside the method (e.g., </a:t>
            </a:r>
            <a:r>
              <a:rPr>
                <a:latin typeface="Courier"/>
              </a:rPr>
              <a:t>dog.age = 4</a:t>
            </a:r>
            <a:r>
              <a:rPr/>
              <a:t>), the change </a:t>
            </a:r>
            <a:r>
              <a:rPr b="1"/>
              <a:t>persists</a:t>
            </a:r>
            <a:r>
              <a:rPr/>
              <a:t> outside the method.</a:t>
            </a:r>
          </a:p>
          <a:p>
            <a:pPr lvl="0"/>
            <a:r>
              <a:rPr/>
              <a:t>You </a:t>
            </a:r>
            <a:r>
              <a:rPr b="1"/>
              <a:t>cannot</a:t>
            </a:r>
            <a:r>
              <a:rPr/>
              <a:t> change the object reference itself to point to a new object.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review sets the stage for core topics of this course.</a:t>
            </a:r>
          </a:p>
          <a:p>
            <a:pPr lvl="0"/>
            <a:r>
              <a:rPr b="1"/>
              <a:t>Encapsulation</a:t>
            </a:r>
            <a:r>
              <a:rPr/>
              <a:t>: Using access modifiers (</a:t>
            </a:r>
            <a:r>
              <a:rPr>
                <a:latin typeface="Courier"/>
              </a:rPr>
              <a:t>private</a:t>
            </a:r>
            <a:r>
              <a:rPr/>
              <a:t>, </a:t>
            </a:r>
            <a:r>
              <a:rPr>
                <a:latin typeface="Courier"/>
              </a:rPr>
              <a:t>public</a:t>
            </a:r>
            <a:r>
              <a:rPr/>
              <a:t>) to hide an object’s internal state.</a:t>
            </a:r>
          </a:p>
          <a:p>
            <a:pPr lvl="0"/>
            <a:r>
              <a:rPr b="1"/>
              <a:t>Inheritance</a:t>
            </a:r>
            <a:r>
              <a:rPr/>
              <a:t>: Creating new classes based on existing ones.</a:t>
            </a:r>
          </a:p>
          <a:p>
            <a:pPr lvl="0"/>
            <a:r>
              <a:rPr b="1"/>
              <a:t>Polymorphism</a:t>
            </a:r>
            <a:r>
              <a:rPr/>
              <a:t>: The ability of an object to take on many forms.</a:t>
            </a:r>
          </a:p>
          <a:p>
            <a:pPr lvl="0"/>
            <a:r>
              <a:rPr b="1"/>
              <a:t>Interfaces</a:t>
            </a:r>
            <a:r>
              <a:rPr/>
              <a:t>: Defining a contract for a class.</a:t>
            </a:r>
          </a:p>
          <a:p>
            <a:pPr lvl="0" indent="0" marL="0">
              <a:buNone/>
            </a:pPr>
            <a:r>
              <a:rPr/>
              <a:t>These topics are the next logical steps in your journey to mastering object-oriented programming.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Creating an Array of </a:t>
            </a:r>
            <a:r>
              <a:rPr>
                <a:latin typeface="Courier"/>
              </a:rPr>
              <a:t>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do a quick exercise to refresh these concepts.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Create a class called </a:t>
            </a:r>
            <a:r>
              <a:rPr>
                <a:latin typeface="Courier"/>
              </a:rPr>
              <a:t>Student</a:t>
            </a:r>
            <a:r>
              <a:rPr/>
              <a:t>.</a:t>
            </a:r>
          </a:p>
          <a:p>
            <a:pPr lvl="0"/>
            <a:r>
              <a:rPr/>
              <a:t>It should have fields for </a:t>
            </a:r>
            <a:r>
              <a:rPr>
                <a:latin typeface="Courier"/>
              </a:rPr>
              <a:t>studentName</a:t>
            </a:r>
            <a:r>
              <a:rPr/>
              <a:t> (String), </a:t>
            </a:r>
            <a:r>
              <a:rPr>
                <a:latin typeface="Courier"/>
              </a:rPr>
              <a:t>major</a:t>
            </a:r>
            <a:r>
              <a:rPr/>
              <a:t> (String), and </a:t>
            </a:r>
            <a:r>
              <a:rPr>
                <a:latin typeface="Courier"/>
              </a:rPr>
              <a:t>gradYear</a:t>
            </a:r>
            <a:r>
              <a:rPr/>
              <a:t> (int) [You can reuse the class you created earlier]</a:t>
            </a:r>
          </a:p>
          <a:p>
            <a:pPr lvl="0"/>
            <a:r>
              <a:rPr/>
              <a:t>create constructor to initialize the fields</a:t>
            </a:r>
          </a:p>
          <a:p>
            <a:pPr lvl="0"/>
            <a:r>
              <a:rPr/>
              <a:t>override the </a:t>
            </a:r>
            <a:r>
              <a:rPr>
                <a:latin typeface="Courier"/>
              </a:rPr>
              <a:t>toString</a:t>
            </a:r>
            <a:r>
              <a:rPr/>
              <a:t> method to display the “ is majoring in  and will graduate in ”. [not use method below to get firstName]</a:t>
            </a:r>
          </a:p>
          <a:p>
            <a:pPr lvl="0"/>
            <a:r>
              <a:rPr/>
              <a:t>create an instance method </a:t>
            </a:r>
            <a:r>
              <a:rPr>
                <a:latin typeface="Courier"/>
              </a:rPr>
              <a:t>getFirstName</a:t>
            </a:r>
            <a:r>
              <a:rPr/>
              <a:t> to get student’s first name. [note you do not need to pass any parameters, use the class field]</a:t>
            </a:r>
          </a:p>
          <a:p>
            <a:pPr lvl="0"/>
            <a:r>
              <a:rPr/>
              <a:t>Now in a different file called </a:t>
            </a:r>
            <a:r>
              <a:rPr>
                <a:latin typeface="Courier"/>
              </a:rPr>
              <a:t>StudentTest.java</a:t>
            </a:r>
            <a:r>
              <a:rPr/>
              <a:t>:</a:t>
            </a:r>
          </a:p>
          <a:p>
            <a:pPr lvl="1"/>
            <a:r>
              <a:rPr/>
              <a:t>create an array of </a:t>
            </a:r>
            <a:r>
              <a:rPr>
                <a:latin typeface="Courier"/>
              </a:rPr>
              <a:t>Student</a:t>
            </a:r>
            <a:r>
              <a:rPr/>
              <a:t> objects with a size of at least 3</a:t>
            </a:r>
          </a:p>
          <a:p>
            <a:pPr lvl="1"/>
            <a:r>
              <a:rPr/>
              <a:t>use two-phase initialization to fill the array: first create the array, then create and assign a </a:t>
            </a:r>
            <a:r>
              <a:rPr>
                <a:latin typeface="Courier"/>
              </a:rPr>
              <a:t>Student</a:t>
            </a:r>
            <a:r>
              <a:rPr/>
              <a:t> object to each index [do not create the objects inline when declaring the array]</a:t>
            </a:r>
          </a:p>
          <a:p>
            <a:pPr lvl="1"/>
            <a:r>
              <a:rPr/>
              <a:t>add at least 3 different students to the array, each with a different name, major, and graduation year</a:t>
            </a:r>
          </a:p>
          <a:p>
            <a:pPr lvl="1"/>
            <a:r>
              <a:rPr/>
              <a:t>use a loop to print each student in the array by calling </a:t>
            </a:r>
            <a:r>
              <a:rPr>
                <a:latin typeface="Courier"/>
              </a:rPr>
              <a:t>toString</a:t>
            </a:r>
            <a:r>
              <a:rPr/>
              <a:t> [you can print the object directly with </a:t>
            </a:r>
            <a:r>
              <a:rPr>
                <a:latin typeface="Courier"/>
              </a:rPr>
              <a:t>System.out.println</a:t>
            </a:r>
            <a:r>
              <a:rPr/>
              <a:t>, since it will call </a:t>
            </a:r>
            <a:r>
              <a:rPr>
                <a:latin typeface="Courier"/>
              </a:rPr>
              <a:t>toString</a:t>
            </a:r>
            <a:r>
              <a:rPr/>
              <a:t> automatically]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/>
  <cp:keywords/>
  <dcterms:created xsi:type="dcterms:W3CDTF">2026-09-09T23:30:48Z</dcterms:created>
  <dcterms:modified xsi:type="dcterms:W3CDTF">2026-09-09T23:30:48Z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